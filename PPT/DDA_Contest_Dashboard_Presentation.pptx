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1.png"/><Relationship Id="rId38" Type="http://schemas.openxmlformats.org/officeDocument/2006/relationships/notesSlide" Target="../notesSlides/notesSlide4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30.xml"/><Relationship Id="rId35" Type="http://schemas.openxmlformats.org/officeDocument/2006/relationships/tags" Target="../tags/tag29.xml"/><Relationship Id="rId34" Type="http://schemas.openxmlformats.org/officeDocument/2006/relationships/image" Target="../media/image3.png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tags" Target="../tags/tag26.xml"/><Relationship Id="rId30" Type="http://schemas.openxmlformats.org/officeDocument/2006/relationships/tags" Target="../tags/tag25.xml"/><Relationship Id="rId3" Type="http://schemas.openxmlformats.org/officeDocument/2006/relationships/tags" Target="../tags/tag3.xml"/><Relationship Id="rId29" Type="http://schemas.openxmlformats.org/officeDocument/2006/relationships/tags" Target="../tags/tag24.xml"/><Relationship Id="rId28" Type="http://schemas.openxmlformats.org/officeDocument/2006/relationships/image" Target="../media/image14.png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image" Target="../media/image13.png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12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7.png"/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.png"/><Relationship Id="rId4" Type="http://schemas.openxmlformats.org/officeDocument/2006/relationships/image" Target="../media/image21.png"/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4.png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21.png"/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37.png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36.png"/><Relationship Id="rId2" Type="http://schemas.openxmlformats.org/officeDocument/2006/relationships/tags" Target="../tags/tag32.xml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40.xml"/><Relationship Id="rId12" Type="http://schemas.openxmlformats.org/officeDocument/2006/relationships/image" Target="../media/image38.png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C3D6B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2B33D">
              <a:alpha val="1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5486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Contest Tracker · Power BI Portfolio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87552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DDA Contest Performance &amp;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Student Intelligence Dashboard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41605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Analyzing Contest Performance, Rankings &amp; Programming Skills using Power BI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4892040"/>
            <a:ext cx="2743200" cy="0"/>
          </a:xfrm>
          <a:prstGeom prst="line">
            <a:avLst/>
          </a:prstGeom>
          <a:noFill/>
          <a:ln w="25400">
            <a:solidFill>
              <a:srgbClr val="F2B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21208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chemeClr val="bg1"/>
                </a:solidFill>
              </a:rPr>
              <a:t>ROZ RAJAK</a:t>
            </a:r>
            <a:endParaRPr lang="en-US" sz="1300" b="1" dirty="0">
              <a:solidFill>
                <a:schemeClr val="bg1"/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 |  SQL  |  Excel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324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DDA Contest Tracker is a Power BI analytics project built to understand how students perform across coding and competitive contests. It brings together contest records, academic details, student master data, and leaderboard results into a single connected model — turning scattered spreadsheets into a clear, interactive picture of participation, accuracy, and skill.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D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contest logs to performance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6035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source tables are modeled into a star schema, then explored through two dashboards covering executive-level contest metrics and individual student performance analytics.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86600" y="1508760"/>
            <a:ext cx="4526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9AAAC2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42632" y="1792224"/>
            <a:ext cx="658368" cy="658368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9" name="Image 0" descr="/home/claude/assets/icons/db-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95681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83880" y="167335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Source Tables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183880" y="207568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Contest, students, academics &amp; leaderboard data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86600" y="2971800"/>
            <a:ext cx="4526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9AAAC2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42632" y="3255264"/>
            <a:ext cx="658368" cy="658368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4" name="Image 1" descr="/home/claude/assets/icons/mode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341985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83880" y="313639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Star-Schema Model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183880" y="35387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via contest_id &amp; student_id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086600" y="4434840"/>
            <a:ext cx="4526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9AAAC2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42632" y="4718304"/>
            <a:ext cx="658368" cy="658368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9" name="Image 2" descr="/home/claude/assets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488289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83880" y="459943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Interactive Dashboards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183880" y="500176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overview &amp; performance intelligence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819656"/>
            <a:ext cx="603504" cy="60350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6" name="Image 0" descr="/home/claude/assets/icons/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321" y="1964497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6060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Participation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044952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student participation across every contest type and cycle.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819656"/>
            <a:ext cx="603504" cy="60350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1" name="Image 1" descr="/home/claude/assets/icons/chart-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61" y="1964497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26060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Performance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66160" y="3044952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scores, accuracy, and overall contest rankings.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3760" y="1819656"/>
            <a:ext cx="603504" cy="60350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6" name="Image 2" descr="/home/claude/assets/icons/check-dou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601" y="1964497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6060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Skill Areas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0" y="3044952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 MCQ accuracy and programming performance separately.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58400" y="1819656"/>
            <a:ext cx="603504" cy="60350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1" name="Image 3" descr="/home/claude/assets/icons/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3241" y="1964497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26060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Branches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35440" y="3044952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 participation and performance across branches &amp; colleges.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54480" y="4197096"/>
            <a:ext cx="603504" cy="60350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6" name="Image 4" descr="/home/claude/assets/icons/me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321" y="4341937"/>
            <a:ext cx="313822" cy="3138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4944" y="498348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Performers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31520" y="5422392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high, medium, and low performing student segments.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3383280" y="397764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89120" y="4197096"/>
            <a:ext cx="603504" cy="60350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31" name="Image 5" descr="/home/claude/assets/icons/user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961" y="4341937"/>
            <a:ext cx="313822" cy="31382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9584" y="498348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Individuals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66160" y="5422392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individual student performance over time.</a:t>
            </a:r>
            <a:endParaRPr lang="en-US" sz="970" dirty="0"/>
          </a:p>
        </p:txBody>
      </p:sp>
      <p:sp>
        <p:nvSpPr>
          <p:cNvPr id="34" name="Shape 26"/>
          <p:cNvSpPr/>
          <p:nvPr/>
        </p:nvSpPr>
        <p:spPr>
          <a:xfrm>
            <a:off x="6217920" y="397764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223760" y="4197096"/>
            <a:ext cx="603504" cy="60350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36" name="Image 6" descr="/home/claude/assets/icons/handshak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8601" y="4341937"/>
            <a:ext cx="313822" cy="31382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98348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Mentoring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400800" y="5422392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data-driven mentoring and training decisions.</a:t>
            </a:r>
            <a:endParaRPr lang="en-US" sz="970" dirty="0"/>
          </a:p>
        </p:txBody>
      </p:sp>
      <p:sp>
        <p:nvSpPr>
          <p:cNvPr id="39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Contest and leaderboard data naturally grows across many disconnected sources. Reviewed manually, it becomes very difficult to extract consistent, timely insight.</a:t>
            </a:r>
            <a:endParaRPr lang="en-US" sz="14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2331720"/>
            <a:ext cx="3346704" cy="1554480"/>
          </a:xfrm>
          <a:prstGeom prst="roundRect">
            <a:avLst>
              <a:gd name="adj" fmla="val 4706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68096" y="2532888"/>
            <a:ext cx="548640" cy="54864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7" name="Image 0" descr="/home/claude/assets/icons/db-scatter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99770" y="266456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768096" y="3200400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scattered across multiple tables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768096" y="3566160"/>
            <a:ext cx="2907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Contest, student, and leaderboard records live separately.</a:t>
            </a:r>
            <a:endParaRPr lang="en-US" sz="950" dirty="0"/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4151376" y="2331720"/>
            <a:ext cx="3346704" cy="1554480"/>
          </a:xfrm>
          <a:prstGeom prst="roundRect">
            <a:avLst>
              <a:gd name="adj" fmla="val 4706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4370832" y="2532888"/>
            <a:ext cx="548640" cy="54864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2" name="Image 1" descr="/home/claude/assets/icons/user-track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502506" y="266456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4370832" y="3200400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to track individual performance</a:t>
            </a:r>
            <a:endParaRPr lang="en-US" sz="125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4370832" y="3566160"/>
            <a:ext cx="2907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unified view of a single student’s journey over time.</a:t>
            </a:r>
            <a:endParaRPr lang="en-US" sz="950" dirty="0"/>
          </a:p>
        </p:txBody>
      </p:sp>
      <p:sp>
        <p:nvSpPr>
          <p:cNvPr id="15" name="Shape 11"/>
          <p:cNvSpPr/>
          <p:nvPr>
            <p:custDataLst>
              <p:tags r:id="rId13"/>
            </p:custDataLst>
          </p:nvPr>
        </p:nvSpPr>
        <p:spPr>
          <a:xfrm>
            <a:off x="7754112" y="2331720"/>
            <a:ext cx="3346704" cy="1554480"/>
          </a:xfrm>
          <a:prstGeom prst="roundRect">
            <a:avLst>
              <a:gd name="adj" fmla="val 4706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16" name="Shape 12"/>
          <p:cNvSpPr/>
          <p:nvPr>
            <p:custDataLst>
              <p:tags r:id="rId14"/>
            </p:custDataLst>
          </p:nvPr>
        </p:nvSpPr>
        <p:spPr>
          <a:xfrm>
            <a:off x="7973568" y="2532888"/>
            <a:ext cx="548640" cy="54864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7" name="Image 2" descr="/home/claude/assets/icons/ranking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105242" y="266456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>
            <p:custDataLst>
              <p:tags r:id="rId17"/>
            </p:custDataLst>
          </p:nvPr>
        </p:nvSpPr>
        <p:spPr>
          <a:xfrm>
            <a:off x="7973568" y="3200400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ranking &amp; accuracy analysis</a:t>
            </a:r>
            <a:endParaRPr lang="en-US" sz="1250" dirty="0"/>
          </a:p>
        </p:txBody>
      </p:sp>
      <p:sp>
        <p:nvSpPr>
          <p:cNvPr id="19" name="Text 14"/>
          <p:cNvSpPr/>
          <p:nvPr>
            <p:custDataLst>
              <p:tags r:id="rId18"/>
            </p:custDataLst>
          </p:nvPr>
        </p:nvSpPr>
        <p:spPr>
          <a:xfrm>
            <a:off x="7973568" y="3566160"/>
            <a:ext cx="2907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Calculating accuracy and rank trends by hand is slow and error-prone.</a:t>
            </a:r>
            <a:endParaRPr lang="en-US" sz="950" dirty="0"/>
          </a:p>
        </p:txBody>
      </p:sp>
      <p:sp>
        <p:nvSpPr>
          <p:cNvPr id="20" name="Shape 15"/>
          <p:cNvSpPr/>
          <p:nvPr>
            <p:custDataLst>
              <p:tags r:id="rId19"/>
            </p:custDataLst>
          </p:nvPr>
        </p:nvSpPr>
        <p:spPr>
          <a:xfrm>
            <a:off x="548640" y="4114800"/>
            <a:ext cx="3345180" cy="1583055"/>
          </a:xfrm>
          <a:prstGeom prst="roundRect">
            <a:avLst>
              <a:gd name="adj" fmla="val 4706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21" name="Shape 16"/>
          <p:cNvSpPr/>
          <p:nvPr>
            <p:custDataLst>
              <p:tags r:id="rId20"/>
            </p:custDataLst>
          </p:nvPr>
        </p:nvSpPr>
        <p:spPr>
          <a:xfrm>
            <a:off x="768096" y="4315968"/>
            <a:ext cx="548640" cy="54864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2" name="Image 3" descr="/home/claude/assets/icons/compare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99770" y="4447642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>
            <p:custDataLst>
              <p:tags r:id="rId23"/>
            </p:custDataLst>
          </p:nvPr>
        </p:nvSpPr>
        <p:spPr>
          <a:xfrm>
            <a:off x="768096" y="4983480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 branch/college comparison</a:t>
            </a:r>
            <a:endParaRPr lang="en-US" sz="1250" dirty="0"/>
          </a:p>
        </p:txBody>
      </p:sp>
      <p:sp>
        <p:nvSpPr>
          <p:cNvPr id="24" name="Text 18"/>
          <p:cNvSpPr/>
          <p:nvPr>
            <p:custDataLst>
              <p:tags r:id="rId24"/>
            </p:custDataLst>
          </p:nvPr>
        </p:nvSpPr>
        <p:spPr>
          <a:xfrm>
            <a:off x="768096" y="5349240"/>
            <a:ext cx="2907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easy way to benchmark participation across branches.</a:t>
            </a:r>
            <a:endParaRPr lang="en-US" sz="950" dirty="0"/>
          </a:p>
        </p:txBody>
      </p:sp>
      <p:sp>
        <p:nvSpPr>
          <p:cNvPr id="25" name="Shape 19"/>
          <p:cNvSpPr/>
          <p:nvPr>
            <p:custDataLst>
              <p:tags r:id="rId25"/>
            </p:custDataLst>
          </p:nvPr>
        </p:nvSpPr>
        <p:spPr>
          <a:xfrm>
            <a:off x="4151630" y="4114800"/>
            <a:ext cx="3340735" cy="1592580"/>
          </a:xfrm>
          <a:prstGeom prst="roundRect">
            <a:avLst>
              <a:gd name="adj" fmla="val 4706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26" name="Shape 20"/>
          <p:cNvSpPr/>
          <p:nvPr>
            <p:custDataLst>
              <p:tags r:id="rId26"/>
            </p:custDataLst>
          </p:nvPr>
        </p:nvSpPr>
        <p:spPr>
          <a:xfrm>
            <a:off x="4370832" y="4315968"/>
            <a:ext cx="548640" cy="54864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7" name="Image 4" descr="/home/claude/assets/icons/search-user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502506" y="4447642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>
            <p:custDataLst>
              <p:tags r:id="rId29"/>
            </p:custDataLst>
          </p:nvPr>
        </p:nvSpPr>
        <p:spPr>
          <a:xfrm>
            <a:off x="4370832" y="4983480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to spot high/low performers</a:t>
            </a:r>
            <a:endParaRPr lang="en-US" sz="1250" dirty="0"/>
          </a:p>
        </p:txBody>
      </p:sp>
      <p:sp>
        <p:nvSpPr>
          <p:cNvPr id="29" name="Text 22"/>
          <p:cNvSpPr/>
          <p:nvPr>
            <p:custDataLst>
              <p:tags r:id="rId30"/>
            </p:custDataLst>
          </p:nvPr>
        </p:nvSpPr>
        <p:spPr>
          <a:xfrm>
            <a:off x="4370832" y="5349240"/>
            <a:ext cx="2907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performers are difficult to identify without a dashboard.</a:t>
            </a:r>
            <a:endParaRPr lang="en-US" sz="950" dirty="0"/>
          </a:p>
        </p:txBody>
      </p:sp>
      <p:sp>
        <p:nvSpPr>
          <p:cNvPr id="30" name="Shape 23"/>
          <p:cNvSpPr/>
          <p:nvPr>
            <p:custDataLst>
              <p:tags r:id="rId31"/>
            </p:custDataLst>
          </p:nvPr>
        </p:nvSpPr>
        <p:spPr>
          <a:xfrm>
            <a:off x="7753985" y="4124325"/>
            <a:ext cx="3347720" cy="1602105"/>
          </a:xfrm>
          <a:prstGeom prst="roundRect">
            <a:avLst>
              <a:gd name="adj" fmla="val 4706"/>
            </a:avLst>
          </a:prstGeom>
          <a:solidFill>
            <a:srgbClr val="F2B33D"/>
          </a:solidFill>
        </p:spPr>
      </p:sp>
      <p:sp>
        <p:nvSpPr>
          <p:cNvPr id="31" name="Shape 24"/>
          <p:cNvSpPr/>
          <p:nvPr>
            <p:custDataLst>
              <p:tags r:id="rId32"/>
            </p:custDataLst>
          </p:nvPr>
        </p:nvSpPr>
        <p:spPr>
          <a:xfrm>
            <a:off x="7973568" y="4315968"/>
            <a:ext cx="548640" cy="548640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32" name="Image 5" descr="/home/claude/assets/icons/powerbi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105242" y="4447642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>
            <p:custDataLst>
              <p:tags r:id="rId35"/>
            </p:custDataLst>
          </p:nvPr>
        </p:nvSpPr>
        <p:spPr>
          <a:xfrm>
            <a:off x="7973568" y="4983480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as the Solution</a:t>
            </a:r>
            <a:endParaRPr lang="en-US" sz="1250" dirty="0"/>
          </a:p>
        </p:txBody>
      </p:sp>
      <p:sp>
        <p:nvSpPr>
          <p:cNvPr id="34" name="Text 26"/>
          <p:cNvSpPr/>
          <p:nvPr>
            <p:custDataLst>
              <p:tags r:id="rId36"/>
            </p:custDataLst>
          </p:nvPr>
        </p:nvSpPr>
        <p:spPr>
          <a:xfrm>
            <a:off x="7973568" y="5349240"/>
            <a:ext cx="2907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connected model, interactive dashboards, instant insight.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15184" cy="43434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9AAAC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3332" y="1828800"/>
            <a:ext cx="685800" cy="68580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6" name="Image 0" descr="/home/claude/assets/icons/cont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782" y="2000250"/>
            <a:ext cx="342900" cy="3429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272491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E7EEFB"/>
          </a:solidFill>
        </p:spPr>
      </p:sp>
      <p:sp>
        <p:nvSpPr>
          <p:cNvPr id="8" name="Text 5"/>
          <p:cNvSpPr/>
          <p:nvPr/>
        </p:nvSpPr>
        <p:spPr>
          <a:xfrm>
            <a:off x="731520" y="2724912"/>
            <a:ext cx="22494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C3D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3127248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dim_contest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3602736"/>
            <a:ext cx="1975104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73075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Holds contest-level information — what each contest is, its type, and when it ran.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" y="4828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04672" y="507492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contest_date · contest_name · contest_id · contest_type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3364992" y="1554480"/>
            <a:ext cx="2615184" cy="43434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9AAAC2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29684" y="1828800"/>
            <a:ext cx="685800" cy="68580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6" name="Image 1" descr="/home/claude/assets/icons/student-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134" y="2000250"/>
            <a:ext cx="342900" cy="3429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685032" y="272491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E7EEFB"/>
          </a:solidFill>
        </p:spPr>
      </p:sp>
      <p:sp>
        <p:nvSpPr>
          <p:cNvPr id="18" name="Text 14"/>
          <p:cNvSpPr/>
          <p:nvPr/>
        </p:nvSpPr>
        <p:spPr>
          <a:xfrm>
            <a:off x="3547872" y="2724912"/>
            <a:ext cx="22494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C3D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547872" y="3127248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dim_student_year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3685032" y="3602736"/>
            <a:ext cx="1975104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21024" y="373075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Holds academic / student-year information tied to each student.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621024" y="4828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621024" y="507492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· course_duration · current_year · email · passout_year · student_id</a:t>
            </a:r>
            <a:endParaRPr lang="en-US" sz="870" dirty="0"/>
          </a:p>
        </p:txBody>
      </p:sp>
      <p:sp>
        <p:nvSpPr>
          <p:cNvPr id="24" name="Shape 20"/>
          <p:cNvSpPr/>
          <p:nvPr/>
        </p:nvSpPr>
        <p:spPr>
          <a:xfrm>
            <a:off x="6181344" y="1554480"/>
            <a:ext cx="2615184" cy="43434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38100" dir="5400000" algn="bl" rotWithShape="0">
              <a:srgbClr val="9AAAC2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146036" y="1828800"/>
            <a:ext cx="685800" cy="68580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6" name="Image 2" descr="/home/claude/assets/icons/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486" y="2000250"/>
            <a:ext cx="342900" cy="3429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501384" y="272491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E7EEFB"/>
          </a:solidFill>
        </p:spPr>
      </p:sp>
      <p:sp>
        <p:nvSpPr>
          <p:cNvPr id="28" name="Text 23"/>
          <p:cNvSpPr/>
          <p:nvPr/>
        </p:nvSpPr>
        <p:spPr>
          <a:xfrm>
            <a:off x="6364224" y="2724912"/>
            <a:ext cx="22494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C3D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364224" y="3127248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dim_students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501384" y="3602736"/>
            <a:ext cx="1975104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37376" y="373075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record of student identity — name, branch, and college.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437376" y="4828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6437376" y="507492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· college · email · name · passout_year · student_id · total_students</a:t>
            </a:r>
            <a:endParaRPr lang="en-US" sz="870" dirty="0"/>
          </a:p>
        </p:txBody>
      </p:sp>
      <p:sp>
        <p:nvSpPr>
          <p:cNvPr id="34" name="Shape 29"/>
          <p:cNvSpPr/>
          <p:nvPr/>
        </p:nvSpPr>
        <p:spPr>
          <a:xfrm>
            <a:off x="8997950" y="1554480"/>
            <a:ext cx="2704465" cy="4973955"/>
          </a:xfrm>
          <a:prstGeom prst="roundRect">
            <a:avLst>
              <a:gd name="adj" fmla="val 314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5400000" algn="bl" rotWithShape="0">
              <a:srgbClr val="9AAAC2">
                <a:alpha val="2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9962388" y="1828800"/>
            <a:ext cx="685800" cy="685800"/>
          </a:xfrm>
          <a:prstGeom prst="ellipse">
            <a:avLst/>
          </a:prstGeom>
          <a:solidFill>
            <a:srgbClr val="F2B33D"/>
          </a:solidFill>
        </p:spPr>
      </p:sp>
      <p:pic>
        <p:nvPicPr>
          <p:cNvPr id="36" name="Image 3" descr="/home/claude/assets/icons/leader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838" y="2000250"/>
            <a:ext cx="342900" cy="34290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9317736" y="272491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F2B33D"/>
          </a:solidFill>
        </p:spPr>
      </p:sp>
      <p:sp>
        <p:nvSpPr>
          <p:cNvPr id="38" name="Text 32"/>
          <p:cNvSpPr/>
          <p:nvPr/>
        </p:nvSpPr>
        <p:spPr>
          <a:xfrm>
            <a:off x="9180576" y="2724912"/>
            <a:ext cx="22494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9180576" y="3127248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fact_leaderboard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9317736" y="3602736"/>
            <a:ext cx="1975104" cy="0"/>
          </a:xfrm>
          <a:prstGeom prst="line">
            <a:avLst/>
          </a:prstGeom>
          <a:noFill/>
          <a:ln w="12700">
            <a:solidFill>
              <a:srgbClr val="2A467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253728" y="373075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Contest-level student performance &amp; leaderboard metrics — the analytical core.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9253728" y="4828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9116695" y="5097145"/>
            <a:ext cx="2240280" cy="755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7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· MCQ_correct / total · programming_point · rank · total_points · </a:t>
            </a:r>
            <a:endParaRPr lang="en-US" sz="870" dirty="0">
              <a:solidFill>
                <a:srgbClr val="A9B8C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87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performance_type ...</a:t>
            </a:r>
            <a:endParaRPr lang="en-US" sz="870" dirty="0"/>
          </a:p>
        </p:txBody>
      </p:sp>
      <p:sp>
        <p:nvSpPr>
          <p:cNvPr id="44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Star-Schema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follows a classic star schema — three dimension tables surround a single fact table, connected by shared key columns.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C3D6B"/>
            </a:solidFill>
            <a:prstDash val="solid"/>
          </a:ln>
          <a:effectLst>
            <a:outerShdw blurRad="76200" dist="25400" dir="5400000" algn="bl" rotWithShape="0">
              <a:srgbClr val="9AAAC2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436876"/>
            <a:ext cx="566928" cy="566928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7" name="Image 0" descr="/home/claude/assets/icons/cont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327" y="257293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0487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dim_contest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key: contest_id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94560" y="3154680"/>
            <a:ext cx="3901288" cy="1463040"/>
          </a:xfrm>
          <a:prstGeom prst="line">
            <a:avLst/>
          </a:prstGeom>
          <a:noFill/>
          <a:ln w="19050">
            <a:solidFill>
              <a:srgbClr val="1C3D6B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709160" y="2286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C3D6B"/>
            </a:solidFill>
            <a:prstDash val="solid"/>
          </a:ln>
          <a:effectLst>
            <a:outerShdw blurRad="76200" dist="25400" dir="5400000" algn="bl" rotWithShape="0">
              <a:srgbClr val="9AAAC2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55464" y="2436876"/>
            <a:ext cx="566928" cy="566928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3" name="Image 1" descr="/home/claude/assets/icons/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527" y="2572939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40487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dim_students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32120" y="2743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key: student_id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0760" y="3154680"/>
            <a:ext cx="15088" cy="1463040"/>
          </a:xfrm>
          <a:prstGeom prst="line">
            <a:avLst/>
          </a:prstGeom>
          <a:noFill/>
          <a:ln w="19050">
            <a:solidFill>
              <a:srgbClr val="1C3D6B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8595360" y="2286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C3D6B"/>
            </a:solidFill>
            <a:prstDash val="solid"/>
          </a:ln>
          <a:effectLst>
            <a:outerShdw blurRad="76200" dist="25400" dir="5400000" algn="bl" rotWithShape="0">
              <a:srgbClr val="9AAAC2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1664" y="2436876"/>
            <a:ext cx="566928" cy="566928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9" name="Image 2" descr="/home/claude/assets/icons/student-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727" y="2572939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18320" y="240487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dim_student_year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418320" y="2743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key: student_id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 flipH="1">
            <a:off x="6095848" y="3154680"/>
            <a:ext cx="3871112" cy="1463040"/>
          </a:xfrm>
          <a:prstGeom prst="line">
            <a:avLst/>
          </a:prstGeom>
          <a:noFill/>
          <a:ln w="19050">
            <a:solidFill>
              <a:srgbClr val="1C3D6B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3992728" y="461772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0B1F3A"/>
          </a:solidFill>
          <a:effectLst>
            <a:outerShdw blurRad="127000" dist="38100" dir="5400000" algn="bl" rotWithShape="0">
              <a:srgbClr val="0B1F3A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193896" y="4800600"/>
            <a:ext cx="685800" cy="685800"/>
          </a:xfrm>
          <a:prstGeom prst="ellipse">
            <a:avLst/>
          </a:prstGeom>
          <a:solidFill>
            <a:srgbClr val="F2B33D"/>
          </a:solidFill>
        </p:spPr>
      </p:sp>
      <p:pic>
        <p:nvPicPr>
          <p:cNvPr id="25" name="Image 3" descr="/home/claude/assets/icons/leader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346" y="4972050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44288" y="47548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fact_leaderboard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5044288" y="516636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fact table — contest performance &amp; rankings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Relationships:  dim_contest → fact_leaderboard  (contest_id)      dim_students → fact_leaderboard  (student_id)      dim_student_year → fact_leaderboard  (student_id)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Contest Performance — Executive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545336"/>
            <a:ext cx="7882128" cy="4448190"/>
          </a:xfrm>
          <a:prstGeom prst="roundRect">
            <a:avLst>
              <a:gd name="adj" fmla="val 1233"/>
            </a:avLst>
          </a:prstGeom>
          <a:solidFill>
            <a:srgbClr val="FFFFFF"/>
          </a:solidFill>
          <a:ln w="12700">
            <a:solidFill>
              <a:srgbClr val="2A4670"/>
            </a:solidFill>
            <a:prstDash val="solid"/>
          </a:ln>
          <a:effectLst>
            <a:outerShdw blurRad="228600" dist="762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assets/dashboard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772400" cy="43384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1645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ANALYZES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95360" y="1965960"/>
            <a:ext cx="30632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top-level view of contest activity — total students, branch coverage, average accuracy, and average points — filterable by contest type, date, branch, and rank.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95360" y="324612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3319272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668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966960" y="3246120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Students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95360" y="4032504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0" y="4105656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966960" y="4032504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Branches Covered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595360" y="4818888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0" y="4892040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28.84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966960" y="4818888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Score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595360" y="5650992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visualizes participation by contest type, participation per branch, and accuracy comparison across contests.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Student Performance &amp; Competitive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545336"/>
            <a:ext cx="7882128" cy="4469855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2A4670"/>
            </a:solidFill>
            <a:prstDash val="solid"/>
          </a:ln>
          <a:effectLst>
            <a:outerShdw blurRad="228600" dist="762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assets/dashboard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772400" cy="43601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1645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ANALYZES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95360" y="196596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deeper, student-level view — MCQ accuracy, highest score, average rank, performance trend over time, performance-tier distribution, and rank distribution — filterable by contest type, MCQ correct, student name, and performance category.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95360" y="370332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3776472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17.00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966960" y="3703320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Score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95360" y="4489704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0" y="4562856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966960" y="4489704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Rank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595360" y="5276088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0" y="5349240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668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966960" y="5276088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Participants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9AAAC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512064" cy="51206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6" name="Image 0" descr="/home/claude/assets/icons/perform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1832823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31720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Performance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60904"/>
            <a:ext cx="31272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total points trended downward across the four tracked contest dates — 4.98 → 3.65 → 2.83 → 1.74 — pointing to a gap worth investigating.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279392" y="150876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9AAAC2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709928"/>
            <a:ext cx="512064" cy="51206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1" name="Image 1" descr="/home/claude/assets/icons/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455" y="183282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331720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0560" y="2660904"/>
            <a:ext cx="31272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accuracy score sits at 28.84, with the highest single score recorded at 17.00 — showing clear room for improvement in precision.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8010144" y="150876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9AAAC2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709928"/>
            <a:ext cx="512064" cy="51206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6" name="Image 2" descr="/home/claude/assets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207" y="183282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1312" y="2331720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vs. MCQ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11312" y="2660904"/>
            <a:ext cx="31272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dashboard separately tracks MCQ correctness and programming points, allowing skill-specific coaching rather than one blanket score.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9AAAC2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877056"/>
            <a:ext cx="512064" cy="51206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1" name="Image 3" descr="/home/claude/assets/icons/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3" y="3999951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498848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Participation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828032"/>
            <a:ext cx="31272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CSIT, CSE, and AIML lead participation volume, while several branches show minimal engagement — highlighting an outreach gap.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4279392" y="3675888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9AAAC2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0560" y="3877056"/>
            <a:ext cx="512064" cy="51206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6" name="Image 4" descr="/home/claude/assets/icons/tr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3455" y="3999951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498848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Contest Trends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80560" y="4828032"/>
            <a:ext cx="31272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varies widely by contest, from 49.67 on Level 2 Code Clash down to 0.00 on 06 Nov MCA, showing inconsistent difficulty or engagement.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8010144" y="3675888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9AAAC2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3877056"/>
            <a:ext cx="512064" cy="512064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31" name="Image 5" descr="/home/claude/assets/icons/ti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207" y="3999951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11312" y="4498848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Tiers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11312" y="4828032"/>
            <a:ext cx="31272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are grouped into Low, Medium, and High performance categories, with the large majority currently concentrated in a single tier — a key mentoring signal.</a:t>
            </a:r>
            <a:endParaRPr lang="en-US" sz="97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0B1F3A"/>
          </a:solidFill>
        </p:spPr>
      </p:sp>
      <p:sp>
        <p:nvSpPr>
          <p:cNvPr id="5" name="Shape 3"/>
          <p:cNvSpPr/>
          <p:nvPr/>
        </p:nvSpPr>
        <p:spPr>
          <a:xfrm>
            <a:off x="768096" y="1892808"/>
            <a:ext cx="621792" cy="621792"/>
          </a:xfrm>
          <a:prstGeom prst="ellipse">
            <a:avLst/>
          </a:prstGeom>
          <a:solidFill>
            <a:srgbClr val="F2B33D"/>
          </a:solidFill>
        </p:spPr>
      </p:sp>
      <p:pic>
        <p:nvPicPr>
          <p:cNvPr id="6" name="Image 0" descr="/home/claude/assets/icons/ment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482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3977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Targeted Mentoring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4480" y="2084832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mentoring toward students identified in the low-performance tier.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0760" y="155448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0B1F3A"/>
          </a:solidFill>
        </p:spPr>
      </p:sp>
      <p:sp>
        <p:nvSpPr>
          <p:cNvPr id="10" name="Shape 7"/>
          <p:cNvSpPr/>
          <p:nvPr/>
        </p:nvSpPr>
        <p:spPr>
          <a:xfrm>
            <a:off x="6300216" y="1892808"/>
            <a:ext cx="621792" cy="621792"/>
          </a:xfrm>
          <a:prstGeom prst="ellipse">
            <a:avLst/>
          </a:prstGeom>
          <a:solidFill>
            <a:srgbClr val="F2B33D"/>
          </a:solidFill>
        </p:spPr>
      </p:sp>
      <p:pic>
        <p:nvPicPr>
          <p:cNvPr id="11" name="Image 1" descr="/home/claude/assets/icons/skill-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0482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737360"/>
            <a:ext cx="3977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Skill Development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86600" y="2084832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focused practice sessions to lift programming_point and programming_solved scores.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072384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0B1F3A"/>
          </a:solidFill>
        </p:spPr>
      </p:sp>
      <p:sp>
        <p:nvSpPr>
          <p:cNvPr id="15" name="Shape 11"/>
          <p:cNvSpPr/>
          <p:nvPr/>
        </p:nvSpPr>
        <p:spPr>
          <a:xfrm>
            <a:off x="768096" y="3410712"/>
            <a:ext cx="621792" cy="621792"/>
          </a:xfrm>
          <a:prstGeom prst="ellipse">
            <a:avLst/>
          </a:prstGeom>
          <a:solidFill>
            <a:srgbClr val="F2B33D"/>
          </a:solidFill>
        </p:spPr>
      </p:sp>
      <p:pic>
        <p:nvPicPr>
          <p:cNvPr id="16" name="Image 2" descr="/home/claude/assets/icons/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56616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55264"/>
            <a:ext cx="3977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Improvement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54480" y="3602736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Address the accuracy gap through timed practice and review of MCQ patterns.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80760" y="3072384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0B1F3A"/>
          </a:solidFill>
        </p:spPr>
      </p:sp>
      <p:sp>
        <p:nvSpPr>
          <p:cNvPr id="20" name="Shape 15"/>
          <p:cNvSpPr/>
          <p:nvPr/>
        </p:nvSpPr>
        <p:spPr>
          <a:xfrm>
            <a:off x="6300216" y="3410712"/>
            <a:ext cx="621792" cy="621792"/>
          </a:xfrm>
          <a:prstGeom prst="ellipse">
            <a:avLst/>
          </a:prstGeom>
          <a:solidFill>
            <a:srgbClr val="F2B33D"/>
          </a:solidFill>
        </p:spPr>
      </p:sp>
      <p:pic>
        <p:nvPicPr>
          <p:cNvPr id="21" name="Image 3" descr="/home/claude/assets/icons/t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56616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255264"/>
            <a:ext cx="3977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Performance Tracking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86600" y="3602736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monitoring performance trends across every new contest cycle.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590288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0B1F3A"/>
          </a:solidFill>
        </p:spPr>
      </p:sp>
      <p:sp>
        <p:nvSpPr>
          <p:cNvPr id="25" name="Shape 19"/>
          <p:cNvSpPr/>
          <p:nvPr/>
        </p:nvSpPr>
        <p:spPr>
          <a:xfrm>
            <a:off x="768096" y="4928616"/>
            <a:ext cx="621792" cy="621792"/>
          </a:xfrm>
          <a:prstGeom prst="ellipse">
            <a:avLst/>
          </a:prstGeom>
          <a:solidFill>
            <a:srgbClr val="F2B33D"/>
          </a:solidFill>
        </p:spPr>
      </p:sp>
      <p:pic>
        <p:nvPicPr>
          <p:cNvPr id="26" name="Image 4" descr="/home/claude/assets/icons/interven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08406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773168"/>
            <a:ext cx="3977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Branch-Level Interventions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554480" y="5120640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branch-specific engagement plans where participation is lowest.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80760" y="4590288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0B1F3A"/>
          </a:solidFill>
        </p:spPr>
      </p:sp>
      <p:sp>
        <p:nvSpPr>
          <p:cNvPr id="30" name="Shape 23"/>
          <p:cNvSpPr/>
          <p:nvPr/>
        </p:nvSpPr>
        <p:spPr>
          <a:xfrm>
            <a:off x="6300216" y="4928616"/>
            <a:ext cx="621792" cy="621792"/>
          </a:xfrm>
          <a:prstGeom prst="ellipse">
            <a:avLst/>
          </a:prstGeom>
          <a:solidFill>
            <a:srgbClr val="F2B33D"/>
          </a:solidFill>
        </p:spPr>
      </p:sp>
      <p:pic>
        <p:nvPicPr>
          <p:cNvPr id="31" name="Image 5" descr="/home/claude/assets/icons/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5084064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773168"/>
            <a:ext cx="3977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Recognize Top Performers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86600" y="5120640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Publicly celebrate high performers to sustain motivation and healthy competition.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TOOLKIT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&amp; Skills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7048" y="1801368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6" name="Image 0" descr="/home/claude/assets/icons/powerb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278" y="195059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2514600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10128" y="1600200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70248" y="1801368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0" name="Image 1" descr="/home/claude/assets/icons/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478" y="1950598"/>
            <a:ext cx="323332" cy="3233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19856" y="2514600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/ MySQL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53328" y="1600200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13448" y="1801368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4" name="Image 2" descr="/home/claude/assets/icons/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78" y="1950598"/>
            <a:ext cx="323332" cy="3233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63056" y="2514600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Excel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796528" y="1600200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56648" y="1801368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8" name="Image 3" descr="/home/claude/assets/icons/d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878" y="1950598"/>
            <a:ext cx="323332" cy="3233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06256" y="2514600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DAX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66928" y="3236976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527048" y="3438144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2" name="Image 4" descr="/home/claude/assets/icons/mode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278" y="3587374"/>
            <a:ext cx="323332" cy="3233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" y="4151376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Modeling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310128" y="3236976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70248" y="3438144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6" name="Image 5" descr="/home/claude/assets/icons/visualiz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478" y="3587374"/>
            <a:ext cx="323332" cy="3233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19856" y="4151376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053328" y="3236976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013448" y="3438144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30" name="Image 6" descr="/home/claude/assets/icons/clea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2678" y="3587374"/>
            <a:ext cx="323332" cy="3233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163056" y="4151376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8796528" y="3236976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756648" y="3438144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34" name="Image 7" descr="/home/claude/assets/icons/k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5878" y="3587374"/>
            <a:ext cx="323332" cy="32333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06256" y="4151376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Development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566928" y="4873752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527048" y="5074920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38" name="Image 8" descr="/home/claude/assets/icons/b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6278" y="5224150"/>
            <a:ext cx="323332" cy="3233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76656" y="5788152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Intelligence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3310128" y="4873752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4270248" y="5074920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42" name="Image 9" descr="/home/claude/assets/icons/think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9478" y="5224150"/>
            <a:ext cx="323332" cy="32333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419856" y="5788152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Analytical Thinking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6053328" y="4873752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AC2">
                <a:alpha val="18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7013448" y="5074920"/>
            <a:ext cx="621792" cy="621792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46" name="Image 10" descr="/home/claude/assets/icons/desig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2678" y="5224150"/>
            <a:ext cx="323332" cy="32333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163056" y="5788152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Design</a:t>
            </a:r>
            <a:endParaRPr lang="en-US" sz="1150" dirty="0"/>
          </a:p>
        </p:txBody>
      </p:sp>
      <p:sp>
        <p:nvSpPr>
          <p:cNvPr id="48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49" name="Text 3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 TO 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Impact &amp; Analytics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2811780"/>
            <a:ext cx="759409" cy="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31720"/>
            <a:ext cx="960120" cy="96012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6" name="Image 0" descr="/home/claude/assets/icons/raw-dat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31" y="25813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342900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Data</a:t>
            </a:r>
            <a:endParaRPr lang="en-US" sz="970" dirty="0"/>
          </a:p>
        </p:txBody>
      </p:sp>
      <p:sp>
        <p:nvSpPr>
          <p:cNvPr id="8" name="Shape 5"/>
          <p:cNvSpPr/>
          <p:nvPr/>
        </p:nvSpPr>
        <p:spPr>
          <a:xfrm>
            <a:off x="3136849" y="2811780"/>
            <a:ext cx="759409" cy="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76729" y="2331720"/>
            <a:ext cx="960120" cy="96012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0" name="Image 1" descr="/home/claude/assets/icons/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360" y="258135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56689" y="342900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4856378" y="2811780"/>
            <a:ext cx="759409" cy="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896258" y="2331720"/>
            <a:ext cx="960120" cy="96012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4" name="Image 2" descr="/home/claude/assets/icons/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890" y="2581351"/>
            <a:ext cx="460858" cy="4608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76218" y="342900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Modeling</a:t>
            </a:r>
            <a:endParaRPr lang="en-US" sz="970" dirty="0"/>
          </a:p>
        </p:txBody>
      </p:sp>
      <p:sp>
        <p:nvSpPr>
          <p:cNvPr id="16" name="Shape 11"/>
          <p:cNvSpPr/>
          <p:nvPr/>
        </p:nvSpPr>
        <p:spPr>
          <a:xfrm>
            <a:off x="6575908" y="2811780"/>
            <a:ext cx="759409" cy="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615788" y="2331720"/>
            <a:ext cx="960120" cy="96012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18" name="Image 3" descr="/home/claude/assets/icons/da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419" y="2581351"/>
            <a:ext cx="460858" cy="4608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95748" y="342900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DAX &amp; KPIs</a:t>
            </a:r>
            <a:endParaRPr lang="en-US" sz="970" dirty="0"/>
          </a:p>
        </p:txBody>
      </p:sp>
      <p:sp>
        <p:nvSpPr>
          <p:cNvPr id="20" name="Shape 14"/>
          <p:cNvSpPr/>
          <p:nvPr/>
        </p:nvSpPr>
        <p:spPr>
          <a:xfrm>
            <a:off x="8295437" y="2811780"/>
            <a:ext cx="759409" cy="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335317" y="2331720"/>
            <a:ext cx="960120" cy="96012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2" name="Image 4" descr="/home/claude/assets/icons/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948" y="2581351"/>
            <a:ext cx="460858" cy="46085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15277" y="342900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Dashboard</a:t>
            </a:r>
            <a:endParaRPr lang="en-US" sz="970" dirty="0"/>
          </a:p>
        </p:txBody>
      </p:sp>
      <p:sp>
        <p:nvSpPr>
          <p:cNvPr id="24" name="Shape 17"/>
          <p:cNvSpPr/>
          <p:nvPr/>
        </p:nvSpPr>
        <p:spPr>
          <a:xfrm>
            <a:off x="10014966" y="2811780"/>
            <a:ext cx="759409" cy="0"/>
          </a:xfrm>
          <a:prstGeom prst="line">
            <a:avLst/>
          </a:prstGeom>
          <a:noFill/>
          <a:ln w="25400">
            <a:solidFill>
              <a:srgbClr val="3A5A8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054846" y="2331720"/>
            <a:ext cx="960120" cy="960120"/>
          </a:xfrm>
          <a:prstGeom prst="ellipse">
            <a:avLst/>
          </a:prstGeom>
          <a:solidFill>
            <a:srgbClr val="1C3D6B"/>
          </a:solidFill>
        </p:spPr>
      </p:sp>
      <p:pic>
        <p:nvPicPr>
          <p:cNvPr id="26" name="Image 5" descr="/home/claude/assets/icons/ins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477" y="2581351"/>
            <a:ext cx="460858" cy="46085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34806" y="342900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</a:t>
            </a:r>
            <a:endParaRPr lang="en-US" sz="970" dirty="0"/>
          </a:p>
        </p:txBody>
      </p:sp>
      <p:sp>
        <p:nvSpPr>
          <p:cNvPr id="28" name="Shape 20"/>
          <p:cNvSpPr/>
          <p:nvPr/>
        </p:nvSpPr>
        <p:spPr>
          <a:xfrm>
            <a:off x="10774375" y="2331720"/>
            <a:ext cx="960120" cy="960120"/>
          </a:xfrm>
          <a:prstGeom prst="ellipse">
            <a:avLst/>
          </a:prstGeom>
          <a:solidFill>
            <a:srgbClr val="F2B33D"/>
          </a:solidFill>
        </p:spPr>
      </p:sp>
      <p:pic>
        <p:nvPicPr>
          <p:cNvPr id="29" name="Image 6" descr="/home/claude/assets/icons/decis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4006" y="2581351"/>
            <a:ext cx="460858" cy="46085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454335" y="342900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Decisions</a:t>
            </a:r>
            <a:endParaRPr lang="en-US" sz="970" dirty="0"/>
          </a:p>
        </p:txBody>
      </p:sp>
      <p:sp>
        <p:nvSpPr>
          <p:cNvPr id="31" name="Shape 22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32A4C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868680" y="4526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B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this helps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868680" y="489204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868680" y="5193792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where they stand and what to improve next.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3584448" y="489204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Mentors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3584448" y="5193792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 who needs support before it becomes a pattern.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6300216" y="489204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Teams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00216" y="5193792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contests around real skill gaps.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9015984" y="489204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9015984" y="5193792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program-wide outcomes at a glance.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8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8D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324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DDA Contest Tracker demonstrates a complete analytics workflow — from four raw source tables, through a clean star-schema model, to two interactive Power BI dashboards. It converts contest and leaderboard data into clear signals about participation, accuracy, and programming performance at both the individual and branch level.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result is a reusable foundation that mentors and training teams can act on immediately — and a portfolio piece that shows the full data analyst workflow end to 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389120" cy="3291840"/>
          </a:xfrm>
          <a:prstGeom prst="roundRect">
            <a:avLst>
              <a:gd name="adj" fmla="val 2778"/>
            </a:avLst>
          </a:prstGeom>
          <a:solidFill>
            <a:srgbClr val="0B1F3A"/>
          </a:solidFill>
          <a:effectLst>
            <a:outerShdw blurRad="127000" dist="38100" dir="5400000" algn="bl" rotWithShape="0">
              <a:srgbClr val="9AAAC2">
                <a:alpha val="30000"/>
              </a:srgbClr>
            </a:outerShdw>
          </a:effectLst>
        </p:spPr>
      </p:sp>
      <p:pic>
        <p:nvPicPr>
          <p:cNvPr id="7" name="Image 0" descr="/home/claude/assets/icons/quo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745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514600"/>
            <a:ext cx="365760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Turning student performance data into meaningful insights for better learning outcomes.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1C3D6B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196195" y="3551555"/>
            <a:ext cx="3657600" cy="3657600"/>
          </a:xfrm>
          <a:prstGeom prst="ellipse">
            <a:avLst/>
          </a:prstGeom>
          <a:solidFill>
            <a:srgbClr val="F2B33D">
              <a:alpha val="1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196596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DDA Contest Performance &amp; Student Intelligence Dashboard</a:t>
            </a:r>
            <a:endParaRPr lang="en-US" sz="14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031365" y="3931285"/>
            <a:ext cx="1550670" cy="1200785"/>
          </a:xfrm>
          <a:prstGeom prst="ellipse">
            <a:avLst/>
          </a:prstGeom>
          <a:solidFill>
            <a:srgbClr val="132A4C"/>
          </a:solidFill>
        </p:spPr>
      </p:sp>
      <p:pic>
        <p:nvPicPr>
          <p:cNvPr id="7" name="Image 0" descr="/home/claude/assets/icons/mai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41575" y="4267835"/>
            <a:ext cx="799465" cy="560070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1393673" y="5264912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[rosesolanki29@gmail.com]</a:t>
            </a:r>
            <a:endParaRPr lang="en-US" sz="1000" dirty="0"/>
          </a:p>
        </p:txBody>
      </p:sp>
      <p:sp>
        <p:nvSpPr>
          <p:cNvPr id="11" name="Text 7"/>
          <p:cNvSpPr/>
          <p:nvPr>
            <p:custDataLst>
              <p:tags r:id="rId5"/>
            </p:custDataLst>
          </p:nvPr>
        </p:nvSpPr>
        <p:spPr>
          <a:xfrm>
            <a:off x="3581248" y="4828032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endParaRPr lang="en-US" sz="1000" dirty="0"/>
          </a:p>
        </p:txBody>
      </p:sp>
      <p:sp>
        <p:nvSpPr>
          <p:cNvPr id="12" name="Shape 8"/>
          <p:cNvSpPr/>
          <p:nvPr>
            <p:custDataLst>
              <p:tags r:id="rId6"/>
            </p:custDataLst>
          </p:nvPr>
        </p:nvSpPr>
        <p:spPr>
          <a:xfrm>
            <a:off x="5028565" y="3931920"/>
            <a:ext cx="1333500" cy="1196340"/>
          </a:xfrm>
          <a:prstGeom prst="ellipse">
            <a:avLst/>
          </a:prstGeom>
          <a:solidFill>
            <a:srgbClr val="132A4C"/>
          </a:solidFill>
        </p:spPr>
      </p:sp>
      <p:pic>
        <p:nvPicPr>
          <p:cNvPr id="13" name="Image 2" descr="/home/claude/assets/icons/linkedin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77485" y="4105275"/>
            <a:ext cx="850900" cy="829310"/>
          </a:xfrm>
          <a:prstGeom prst="rect">
            <a:avLst/>
          </a:prstGeom>
        </p:spPr>
      </p:pic>
      <p:sp>
        <p:nvSpPr>
          <p:cNvPr id="14" name="Text 9"/>
          <p:cNvSpPr/>
          <p:nvPr>
            <p:custDataLst>
              <p:tags r:id="rId9"/>
            </p:custDataLst>
          </p:nvPr>
        </p:nvSpPr>
        <p:spPr>
          <a:xfrm>
            <a:off x="4537558" y="5307457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linkedin.com/in/</a:t>
            </a:r>
            <a:r>
              <a:rPr lang="en-US" altLang="en-GB" sz="1000" dirty="0">
                <a:solidFill>
                  <a:schemeClr val="bg1"/>
                </a:solidFill>
              </a:rPr>
              <a:t>roz-rajak</a:t>
            </a:r>
            <a:endParaRPr lang="en-US" altLang="en-GB" sz="1000" dirty="0">
              <a:solidFill>
                <a:schemeClr val="bg1"/>
              </a:solidFill>
            </a:endParaRPr>
          </a:p>
        </p:txBody>
      </p:sp>
      <p:sp>
        <p:nvSpPr>
          <p:cNvPr id="15" name="Shape 10"/>
          <p:cNvSpPr/>
          <p:nvPr>
            <p:custDataLst>
              <p:tags r:id="rId10"/>
            </p:custDataLst>
          </p:nvPr>
        </p:nvSpPr>
        <p:spPr>
          <a:xfrm>
            <a:off x="7824470" y="3964940"/>
            <a:ext cx="1310005" cy="1167130"/>
          </a:xfrm>
          <a:prstGeom prst="ellipse">
            <a:avLst/>
          </a:prstGeom>
          <a:solidFill>
            <a:srgbClr val="132A4C"/>
          </a:solidFill>
        </p:spPr>
      </p:sp>
      <p:pic>
        <p:nvPicPr>
          <p:cNvPr id="16" name="Image 3" descr="/home/claude/assets/icons/github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060690" y="4166870"/>
            <a:ext cx="815975" cy="737235"/>
          </a:xfrm>
          <a:prstGeom prst="rect">
            <a:avLst/>
          </a:prstGeom>
        </p:spPr>
      </p:pic>
      <p:sp>
        <p:nvSpPr>
          <p:cNvPr id="17" name="Text 11"/>
          <p:cNvSpPr/>
          <p:nvPr>
            <p:custDataLst>
              <p:tags r:id="rId13"/>
            </p:custDataLst>
          </p:nvPr>
        </p:nvSpPr>
        <p:spPr>
          <a:xfrm>
            <a:off x="7304405" y="5309235"/>
            <a:ext cx="289179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github.com/rosesolanki29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ROZ RAJAK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3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4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5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6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7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8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9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0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1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2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3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4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5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6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7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8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19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0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1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2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3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4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5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6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7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8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29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30.xml><?xml version="1.0" encoding="utf-8"?>
<p:tagLst xmlns:p="http://schemas.openxmlformats.org/presentationml/2006/main">
  <p:tag name="KSO_WM_DIAGRAM_VIRTUALLY_FRAME" val="{&quot;height&quot;:267.3,&quot;left&quot;:43.2,&quot;top&quot;:183.6,&quot;width&quot;:830.95}"/>
</p:tagLst>
</file>

<file path=ppt/tags/tag31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ags/tag32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ags/tag33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ags/tag34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ags/tag35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ags/tag36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ags/tag37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ags/tag38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ags/tag39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ags/tag40.xml><?xml version="1.0" encoding="utf-8"?>
<p:tagLst xmlns:p="http://schemas.openxmlformats.org/presentationml/2006/main">
  <p:tag name="KSO_WM_DIAGRAM_VIRTUALLY_FRAME" val="{&quot;height&quot;:99.36000000000004,&quot;left&quot;:83.98803149606299,&quot;top&quot;:324,&quot;width&quot;:79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7854</Words>
  <Application>WPS Presentation</Application>
  <PresentationFormat>On-screen Show (16:9)</PresentationFormat>
  <Paragraphs>395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Roz Rajak</cp:lastModifiedBy>
  <cp:revision>4</cp:revision>
  <dcterms:created xsi:type="dcterms:W3CDTF">2026-08-19T09:04:00Z</dcterms:created>
  <dcterms:modified xsi:type="dcterms:W3CDTF">2026-08-19T09:38:04Z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D7408643AFCC47CAADE938AAC1BD96A5_12</vt:lpwstr>
  </property>
  <property fmtid="{D5CDD505-2E9C-101B-9397-08002B2CF9AE}" pid="3" name="KSOProductBuildVer">
    <vt:lpwstr>2057-12.2.0.23206</vt:lpwstr>
  </property>
</Properties>
</file>